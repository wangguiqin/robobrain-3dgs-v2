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· 3DGS ·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 · VLA · MPC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机器人操作框架 v2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5 层架构到 流式精化 与 渐进约束特化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50749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覆盖范围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五层架构 · Predicate Dictionary · L2.5 语义解析 · Hybrid MPC A/B/C · VLM-Supervisor · Streaming Refinement · Progressive Constraint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56235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目标任务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叠三个碗 · 双臂端锅 · 含 handover 的 bi-manual 协作  ·  RGB-D 输入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为什么需要 v2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4937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outline 暴露的三个事实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039112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39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数据是 RGB-D，不是纯 RGB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377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深度信息没被任何模块系统使用，affordance grounding 沿用 2D pipeline 浪费输入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456432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56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目标含双臂协作 / handover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不懂 IK / 不知道 arm assignment / 不会生成 handover 模板，plan 在双臂场景必然失败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873752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73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 既是 planner 又是 supervisor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212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把 VLM 当一次性 plan 生成器，但执行中的 drift 检测、约束违反判定也需要 VLM 的语义判断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126480" y="3566160"/>
            <a:ext cx="457200" cy="6400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1417320"/>
            <a:ext cx="502920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的回应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19659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五层 + 旁路 架构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23134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 Embodiment Grounder（IK / arm assign / handover）+ 旁路 VLM-Supervisor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03720" y="3017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040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Predicate Dictionary 窄腰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336499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个 predicate，VLM 训练 / MPC 实现 / Supervisor 判断三者共用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03720" y="40690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069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Sequencing vs Synchronization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44165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拆开两类约束——handover 是同步关键，不是顺序自由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03720" y="51206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78040" y="5120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MPC 限定为 constraint projector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78040" y="546811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不强行做 forward dynamics，PointWorld 旁路按需调用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五层 + 1 旁路 架构总览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6858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49047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 · VLM-Planner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embodiment-agnostic; predicate-only output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267712"/>
            <a:ext cx="6858000" cy="77724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4086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· Embodiment Grounder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67919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 · WorkspaceMap · ArmAssigner · Handover · CoManip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118104"/>
            <a:ext cx="6858000" cy="77724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9125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· Affordance Grounding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52958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LangSAM + depth lift（简化 pipeline）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968496"/>
            <a:ext cx="6858000" cy="77724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0416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· VLA Executor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37997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黑盒先验路径，不要求 constraint-conditioned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818888"/>
            <a:ext cx="685800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92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 · Hybrid MPC A/B/C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2303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A 约束 projector · Stage B/C PointWorld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0" y="2167128"/>
            <a:ext cx="274320" cy="164592"/>
          </a:xfrm>
          <a:prstGeom prst="downArrow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3017520"/>
            <a:ext cx="274320" cy="164592"/>
          </a:xfrm>
          <a:prstGeom prst="downArrow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3867912"/>
            <a:ext cx="274320" cy="164592"/>
          </a:xfrm>
          <a:prstGeom prst="downArrow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4718304"/>
            <a:ext cx="274320" cy="164592"/>
          </a:xfrm>
          <a:prstGeom prst="downArrow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3310128"/>
            <a:ext cx="3749040" cy="640080"/>
          </a:xfrm>
          <a:prstGeom prst="rect">
            <a:avLst/>
          </a:prstGeom>
          <a:solidFill>
            <a:srgbClr val="9FB6E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L2.5 · Semantic Resolver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18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Deferred refs · VLM-Binder · Blackboard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55280" y="1417320"/>
            <a:ext cx="3749040" cy="1691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VLM-Supervisor （旁路）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事件驱动 · 战略层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9244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个决策: continue / advance /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9244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downgrade / force_refine /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9244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full_replan / abort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9244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不改单步动作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55280" y="4160520"/>
            <a:ext cx="3749040" cy="164592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Refiner （并行）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92440" y="4617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与 Inner Loop 并行的后台 worker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维持 lookahead 窗口（≤ 2）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92440" y="5166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 stage 单 pass，不迭代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9244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见 §11.6 streaming 设计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– D8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八条设计纪律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约束契约非动作脚本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是 outcome 集合，不是 imperative 命令序列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outcome-based 监督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评估目标 / 约束，不评估 step 顺序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5176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 embodiment-agnostic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200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不输出 arm / IK / handover，留给 Grounder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65176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8660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Predicate Dictionary 窄腰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200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/ MPC / Supervisor 三方共用同一份谓词字典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8620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23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频段分层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434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/ L2.5 / L3 在不同频率运行，权限随频率反比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88620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886200"/>
            <a:ext cx="73152" cy="109728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023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8660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精化与执行并行 (新)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86600" y="4434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 永远在后台，不阻塞 main loop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12064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120640"/>
            <a:ext cx="73152" cy="109728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257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25880" y="5257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永不依赖 PointWorld 远期预测 (新)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25880" y="5669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≤ 2 stage 是硬上限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12064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5120640"/>
            <a:ext cx="73152" cy="109728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5257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086600" y="5257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A 始终兜底 (新)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86600" y="5669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任何精化路径失败，Stage A 都能让系统跑下去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7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 – D8 是 streaming refinement pivot 时新增的纪律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Waist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Predicate Dictionary · 项目窄腰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个 predicate · 6 大类 · 每个 predicate 三方共用同一定义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1463040"/>
          </a:xfrm>
          <a:prstGeom prst="rect">
            <a:avLst/>
          </a:prstGeom>
          <a:solidFill>
            <a:srgbClr val="E5E8F0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on_top_of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1463040"/>
          </a:xfrm>
          <a:prstGeom prst="rect">
            <a:avLst/>
          </a:prstGeom>
          <a:solidFill>
            <a:srgbClr val="E5E8F0"/>
          </a:solidFill>
          <a:ln w="25400">
            <a:solidFill>
              <a:srgbClr val="9B7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3657600" cy="41148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grasped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57600" cy="1463040"/>
          </a:xfrm>
          <a:prstGeom prst="rect">
            <a:avLst/>
          </a:prstGeom>
          <a:solidFill>
            <a:srgbClr val="E5E8F0"/>
          </a:solidFill>
          <a:ln w="25400">
            <a:solidFill>
              <a:srgbClr val="60D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28800"/>
            <a:ext cx="3657600" cy="411480"/>
          </a:xfrm>
          <a:prstGeom prst="rect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657600" cy="1463040"/>
          </a:xfrm>
          <a:prstGeom prst="rect">
            <a:avLst/>
          </a:prstGeom>
          <a:solidFill>
            <a:srgbClr val="E5E8F0"/>
          </a:solidFill>
          <a:ln w="25400">
            <a:solidFill>
              <a:srgbClr val="5BC4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3657600" cy="41148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moving_toward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3657600" cy="1463040"/>
          </a:xfrm>
          <a:prstGeom prst="rect">
            <a:avLst/>
          </a:prstGeom>
          <a:solidFill>
            <a:srgbClr val="E5E8F0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474720"/>
            <a:ext cx="365760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3977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max_force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3474720"/>
            <a:ext cx="3657600" cy="1463040"/>
          </a:xfrm>
          <a:prstGeom prst="rect">
            <a:avLst/>
          </a:prstGeom>
          <a:solidFill>
            <a:srgbClr val="E5E8F0"/>
          </a:solidFill>
          <a:ln w="25400">
            <a:solidFill>
              <a:srgbClr val="FFB7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3474720"/>
            <a:ext cx="3657600" cy="41148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3920" y="3977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synchronized_with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40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binding: 每个 predicate 必须实现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5760720"/>
            <a:ext cx="3474720" cy="274320"/>
          </a:xfrm>
          <a:prstGeom prst="rect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760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evaluate(scene) → bool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6080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 Supervisor 在线判断约束是否被违反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5760720"/>
            <a:ext cx="3474720" cy="27432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5760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cost(scene) → float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80560" y="6080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 MPC Stage A 把违反程度转化为梯度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5760720"/>
            <a:ext cx="3474720" cy="27432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5760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cost_on_pointcloud(pcd)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6080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 Stage B/C 在 PointWorld 预测点云上评估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VLM-Planner 输出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766560" cy="5029200"/>
          </a:xfrm>
          <a:prstGeom prst="rect">
            <a:avLst/>
          </a:prstGeom>
          <a:solidFill>
            <a:srgbClr val="1A1F3A"/>
          </a:solidFill>
          <a:ln w="12700">
            <a:solidFill>
              <a:srgbClr val="1218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"task": "stack 3 bowls",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"goal":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"stacked", "args": ["bowl_a","bowl_b","bowl_c"]}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"global_constraints":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"upright", "args": ["each:bowl"]},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"max_force", "args": ["gripper", 8.0]}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"lookahead":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"stage_idx":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"approach_first_bowl",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"grasp",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"target": "bowl_a",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"affordance_region": "rim_top",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"preconds":  [{"pred": "reachable", "args": ["bowl_a"]}],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"postconds": [{"pred": "grasped",   "args": ["bowl_a"]}],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"constraints":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{"pred": "approach_speed_max", "args": [0.1]}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"mpc_mode": "B",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"binding_mode": "eager"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more stages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0664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字段角色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640" y="1783080"/>
            <a:ext cx="73152" cy="54864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43800" y="2039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终态 predicate 集合（id-aware 或 existential）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06640" y="2423160"/>
            <a:ext cx="73152" cy="548640"/>
          </a:xfrm>
          <a:prstGeom prst="rect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global_constraints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2679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约束，每个 stage 都必须满足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3063240"/>
            <a:ext cx="73152" cy="54864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3063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7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lookahead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3319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refiner 窗口大小 0 / 1 / 2 /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3703320"/>
            <a:ext cx="73152" cy="54864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affordance_region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3959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描述 affordance 区域（不出 UV 坐标）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434340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preconds / postconds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43800" y="45994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入口 / 出口的 predicate 约束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4983480"/>
            <a:ext cx="73152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4983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mpc_mode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5239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默认 / B 接触 / C 多体耦合 — 控制 PointWorld 启用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5623560"/>
            <a:ext cx="73152" cy="54864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5623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7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binding_mode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3800" y="58795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(plan-time 绑) / lazy (runtime 绑 — 渐进约束)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 输出 Template · 叠三个碗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0" cy="5029200"/>
          </a:xfrm>
          <a:prstGeom prst="rect">
            <a:avLst/>
          </a:prstGeom>
          <a:solidFill>
            <a:srgbClr val="1A1F3A"/>
          </a:solidFill>
          <a:ln w="12700">
            <a:solidFill>
              <a:srgbClr val="1218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70408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"task": "把三个碗叠在一起",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"goal": [{"pred": "stacked", "args": ["bowl_1","bowl_2","bowl_3"]}],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"global_constraints":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"upright", "args": ["each:bowl"]},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"max_force", "args": ["gripper", 8.0]}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"lookahead":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"binding_mode_hint": "lazy",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"stage_idx": 1, "action": "grasp", "target": "bowl_a",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"affordance_region": "rim_top",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"postconds": [{"pred":"grasped","args":["bowl_a"]}],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"mpc_mode": "B" },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"stage_idx": 2, "action": "place", "target": "bowl_a",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"place_on": "bowl_b",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"affordance_region": "bowl_b/top_center",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"preconds":  [{"pred":"grasped","args":["bowl_a"]}],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"postconds": [{"pred":"on_top_of","args":["bowl_a","bowl_b"]},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{"pred":"released","args":["bowl_a"]},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{"pred":"upright","args":["bowl_a"]}],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"mpc_mode": "C" },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"stage_idx": 3, "action": "grasp", "target": "bowl_c",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"affordance_region": "rim_top",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"postconds": [{"pred":"grasped","args":["bowl_c"]}],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"mpc_mode": "B" },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"stage_idx": 4, "action": "place", "target": "bowl_c",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"place_on": "bowl_a",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"affordance_region": "bowl_a/top_center",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"postconds": [{"pred":"stacked","args":["bowl_1","bowl_2","bowl_3"]}],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"mpc_mode": "C"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关键观察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1828800"/>
            <a:ext cx="3840480" cy="1005840"/>
          </a:xfrm>
          <a:prstGeom prst="rect">
            <a:avLst/>
          </a:prstGeom>
          <a:solidFill>
            <a:srgbClr val="E5E8F0"/>
          </a:solidFill>
          <a:ln w="19050">
            <a:solidFill>
              <a:srgbClr val="5BC4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顺序自由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9244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1→2→3 与 3→2→1 都对，goal predicate 不指定先后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55280" y="2926080"/>
            <a:ext cx="3840480" cy="1005840"/>
          </a:xfrm>
          <a:prstGeom prst="rect">
            <a:avLst/>
          </a:prstGeom>
          <a:solidFill>
            <a:srgbClr val="E5E8F0"/>
          </a:solidFill>
          <a:ln w="19050">
            <a:solidFill>
              <a:srgbClr val="60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affordance 是区域，不是 UV 坐标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3337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rim_top / top_center 由 grounding 模块负责定位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0" y="4023360"/>
            <a:ext cx="3840480" cy="1005840"/>
          </a:xfrm>
          <a:prstGeom prst="rect">
            <a:avLst/>
          </a:prstGeom>
          <a:solidFill>
            <a:srgbClr val="E5E8F0"/>
          </a:solidFill>
          <a:ln w="19050">
            <a:solidFill>
              <a:srgbClr val="FFB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mpc_mode 分级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4434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= B（接触瞬间）, place = C（接触富集）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5120640"/>
            <a:ext cx="3840480" cy="1005840"/>
          </a:xfrm>
          <a:prstGeom prst="rect">
            <a:avLst/>
          </a:prstGeom>
          <a:solidFill>
            <a:srgbClr val="E5E8F0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5212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问题暗藏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VLM 必须 commit bowl_a/b/c identity，则陷入组合爆炸 — 看第 18 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· Bi-manual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 输出 Template · 双臂端锅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498080" cy="5029200"/>
          </a:xfrm>
          <a:prstGeom prst="rect">
            <a:avLst/>
          </a:prstGeom>
          <a:solidFill>
            <a:srgbClr val="1A1F3A"/>
          </a:solidFill>
          <a:ln w="12700">
            <a:solidFill>
              <a:srgbClr val="1218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7223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"task": "双臂把锅端到桌子另一侧",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"goal":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"at_pose", "args": ["pot", "target_location"]},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"upright", "args": ["pot"]}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"global_constraints":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"upright",    "args": ["pot"]},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"max_tilt",   "args": ["pot", 15.0]},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{"pred": "co_manipulation", "args": ["arm_left","arm_right","pot"]}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"lookahead": 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"stage_idx": 1, "action": "approach", "target": "pot/handle_left",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"postconds": [{"pred":"near","args":["ee","pot/handle_left"]}] },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"stage_idx": 2, "action": "dual_grasp",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"targets": ["pot/handle_left", "pot/handle_right"],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"synchronization": "simultaneous_close",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"postconds": [{"pred":"grasped","args":["pot/handle_left"]},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{"pred":"grasped","args":["pot/handle_right"]}],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"mpc_mode": "C" },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"stage_idx": 3, "action": "co_lift",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"target": "pot", "lift_height": 0.15,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"constraints":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{"pred":"synchronized_with","args":["arm_left.z","arm_right.z","tol=0.01"]},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{"pred":"upright","args":["pot"]}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"mpc_mode": "C" },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"stage_idx": 4, "action": "co_transport",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"target": "target_location",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"constraints":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{"pred":"upright","args":["pot"]},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{"pred":"clear_of","args":["pot","obstacles"]}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"mpc_mode": "C" },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"stage_idx": 5, "action": "co_place_and_release",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"synchronization": "simultaneous_release",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"postconds": [{"pred":"at_pose","args":["pot","target_location"]}]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1381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Bi-manual 设计点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38160" y="1874520"/>
            <a:ext cx="228600" cy="228600"/>
          </a:xfrm>
          <a:prstGeom prst="ellipse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5820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co_manipulation predicate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58200" y="2103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constraint，整个任务期间双臂物理耦合，由 CoManipulationDetector 维持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0" y="2788920"/>
            <a:ext cx="228600" cy="228600"/>
          </a:xfrm>
          <a:prstGeom prst="ellipse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字段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58200" y="3017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标识同步关键点；不是 sequencing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3703320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mpc_mode: 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58200" y="3931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双臂多体耦合 → PointWorld + CEM/MPPI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4617720"/>
            <a:ext cx="228600" cy="228600"/>
          </a:xfrm>
          <a:prstGeom prst="ellipse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lookahead: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58200" y="4846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 mpc_mode C 的默认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5532120"/>
            <a:ext cx="228600" cy="228600"/>
          </a:xfrm>
          <a:prstGeom prst="ellipse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5486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C4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 不出 IK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57607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arm 分配由 Embodiment Grounder 完成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embodiment-aware translation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Embodiment Grounder · 5 个组件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embodiment-agnostic 的 VLM plan 翻译成具体到机器人本体的 grounded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3657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 + Collision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cuRobo (GPU-batched)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备选: Pinocchio / TracIK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29184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为每个 stage 计算 reachable EE pose；过滤 collision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05740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0D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057400"/>
            <a:ext cx="3657600" cy="457200"/>
          </a:xfrm>
          <a:prstGeom prst="rect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预计算 voxel reachability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双臂分别 cache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291840"/>
            <a:ext cx="329184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查询 "this point reachable by which arm"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205740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5BC4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057400"/>
            <a:ext cx="3657600" cy="45720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ArmAssigner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heuristic + L2.5 fallback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VLM-Binder 做边缘 case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3291840"/>
            <a:ext cx="329184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grasp / approach stage 分配 left or right arm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HandoverPlanner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Template-based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kinematic validate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329184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486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自动插入 handover 中间 stage；同步 release 与 grasp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0" y="420624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4206240"/>
            <a:ext cx="365760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CoManipulationDetector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 goal + global constraints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触发 dual-arm trajectory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5440680"/>
            <a:ext cx="329184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5486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 co_manipulation predicate；构造对称双臂轨迹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在 runtime 的运行时贡献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L2.5 Semantic Resolver · Deferred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669280" cy="2286000"/>
          </a:xfrm>
          <a:prstGeom prst="rect">
            <a:avLst/>
          </a:prstGeom>
          <a:solidFill>
            <a:srgbClr val="E5E8F0"/>
          </a:solidFill>
          <a:ln w="25400">
            <a:solidFill>
              <a:srgbClr val="60D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场景：碗散在桌上，VLM plan-time 不知道顺序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94960" cy="1645920"/>
          </a:xfrm>
          <a:prstGeom prst="rect">
            <a:avLst/>
          </a:prstGeom>
          <a:solidFill>
            <a:srgbClr val="1A1F3A"/>
          </a:solidFill>
          <a:ln w="12700">
            <a:solidFill>
              <a:srgbClr val="121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"action": "grasp",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"target": "?bowl_1",           // deferred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"binder": "nearest_bowl_to(ee)"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"action": "place",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"target": "?bowl_1",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"place_on": "?bowl_2",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"binder_2": "any_other_bowl"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Pipeline (runtime, 在 stage 即将执行前)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Binder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binder function (nearest_bowl_to(ee))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Scene Blackboard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 / 写入解析结果 (?bowl_1 = bowl_id_5)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VLM-Refiner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binder 失败 → VLM 兜底裁决（边缘 case）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Propagate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传播到下游 stage (?bowl_2 ≠ ?bowl_1)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 在 L2.5 的三种 runtime 贡献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3721608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5BC4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97680"/>
            <a:ext cx="3721608" cy="45720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hit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4297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~95% 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已能解决，无需 VLM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61688" y="4297680"/>
            <a:ext cx="3721608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61688" y="4297680"/>
            <a:ext cx="3721608" cy="45720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47688" y="4297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~3% case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44568" y="489204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可跳过的语义歧义（不重要的细节）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66176" y="4297680"/>
            <a:ext cx="3721608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6176" y="4297680"/>
            <a:ext cx="3721608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52176" y="4297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~2% case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49056" y="489204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失败 / OOD → VLM-Refiner 兜底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by mpc_mode hint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MPC · Stage A / B / 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21608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C4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721608" cy="77724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A · Always-on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Projector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 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 · 每个 timestep 都跑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338328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把 predicate 转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单步 projection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不调 PointWorld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是 D8 兜底安全网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1688" y="1371600"/>
            <a:ext cx="3721608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1371600"/>
            <a:ext cx="3721608" cy="77724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B · On-demand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44568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PointWorld single-step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44568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– 80 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44568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标 mpc_mode=B 时（接触瞬间）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44568" y="4023360"/>
            <a:ext cx="338328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41148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PointWorld 预测下一步点云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评估接触约束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单步前向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替代 Stage A 决策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66176" y="1371600"/>
            <a:ext cx="3721608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6176" y="1371600"/>
            <a:ext cx="3721608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C · Heavy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49056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PointWorld CEM / MPPI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49056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49056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– 500 ms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49056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49056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标 mpc_mode=C 时（接触富集）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49056" y="4023360"/>
            <a:ext cx="338328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49056" y="41148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 step rollout + CEM 优化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多体耦合（双臂 / contact-rich）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频段最低，权限最大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只在必要时启用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用 mpc_mode 字段做 hint；Stage A 始终运行兜底（D8）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· 6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VLM-Supervisor · 旁路战略层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不修改单步动作，只走 stage / replan / refine 通道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57600" cy="4572000"/>
          </a:xfrm>
          <a:prstGeom prst="rect">
            <a:avLst/>
          </a:prstGeom>
          <a:solidFill>
            <a:srgbClr val="E5E8F0"/>
          </a:solidFill>
          <a:ln w="25400">
            <a:solidFill>
              <a:srgbClr val="FFB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3657600" cy="45720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突然不可满足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PointWorld 预测严重偏离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action 多步漂移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 跟不上节奏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异常或被遮挡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Timeout（stage &gt; 预期时长）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206240" y="3657600"/>
            <a:ext cx="411480" cy="50292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种决策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3337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4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286000"/>
            <a:ext cx="73152" cy="128016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无事发生，继续 inner loop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66760" y="2286000"/>
            <a:ext cx="3337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4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2286000"/>
            <a:ext cx="73152" cy="128016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advance_stage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4964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提前进入下一 stage (postcond 已满足)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3337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7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703320"/>
            <a:ext cx="73152" cy="128016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downgrade_mpc_mode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206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B → A，降级到更便宜的 mode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66760" y="3703320"/>
            <a:ext cx="3337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B7E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3703320"/>
            <a:ext cx="73152" cy="128016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force_refine_now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49640" y="4206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紧急通道，让 refiner 优先精化某 stage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5120640"/>
            <a:ext cx="3337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5120640"/>
            <a:ext cx="73152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full_replan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5623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 VLM-Planner 重新规划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66760" y="5120640"/>
            <a:ext cx="3337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66760" y="5120640"/>
            <a:ext cx="73152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49640" y="5623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终止执行，等待人工介入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Refinement · 为什么反转 Pre-Execution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"我觉得在执行前进行闭环判断延时太高了，希望能在执行过程中进行规划闭环"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维度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874520"/>
            <a:ext cx="42062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Pre-Execution Refinement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1874520"/>
            <a:ext cx="4297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1874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Refinement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启动延迟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377440"/>
            <a:ext cx="420624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2377440"/>
            <a:ext cx="4297680" cy="502920"/>
          </a:xfrm>
          <a:prstGeom prst="rect">
            <a:avLst/>
          </a:prstGeom>
          <a:solidFill>
            <a:srgbClr val="F0FF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377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s (Quick Check)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Refinement 次数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420624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880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plan 多轮 (≤3)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2880360"/>
            <a:ext cx="4297680" cy="502920"/>
          </a:xfrm>
          <a:prstGeom prst="rect">
            <a:avLst/>
          </a:prstGeom>
          <a:solidFill>
            <a:srgbClr val="F0FF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2880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stage 1 轮 (并行)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PointWorld 范围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383280"/>
            <a:ext cx="420624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383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plan rollout (含远端不可信)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3383280"/>
            <a:ext cx="4297680" cy="502920"/>
          </a:xfrm>
          <a:prstGeom prst="rect">
            <a:avLst/>
          </a:prstGeom>
          <a:solidFill>
            <a:srgbClr val="F0FF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3383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 stage rollout (近端可靠)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利用执行结果做 prior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3886200"/>
            <a:ext cx="420624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886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3886200"/>
            <a:ext cx="4297680" cy="502920"/>
          </a:xfrm>
          <a:prstGeom prst="rect">
            <a:avLst/>
          </a:prstGeom>
          <a:solidFill>
            <a:srgbClr val="F0FF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(基于 blackboard)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3891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389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 case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4389120"/>
            <a:ext cx="420624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389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 plan 也等 30s 才动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06640" y="4389120"/>
            <a:ext cx="4297680" cy="502920"/>
          </a:xfrm>
          <a:prstGeom prst="rect">
            <a:avLst/>
          </a:prstGeom>
          <a:solidFill>
            <a:srgbClr val="F0FF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 跟不上 → degraded 但仍能跑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892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模式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4892040"/>
            <a:ext cx="420624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4892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突发 + 0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06640" y="4892040"/>
            <a:ext cx="4297680" cy="502920"/>
          </a:xfrm>
          <a:prstGeom prst="rect">
            <a:avLst/>
          </a:prstGeom>
          <a:solidFill>
            <a:srgbClr val="F0FF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43800" y="4892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 2–3 s/stage 后台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577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 insight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本身就是 world model 的免费 calibration — 每 stage 完成后，blackboard 的 ground-truth state 比 PointWorld 5 步预测准 100 倍。Pre-execution 模式放弃了这个免费的信号源。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timelines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Refinement · 时间轴架构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Timeline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914400" cy="64008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1783080"/>
            <a:ext cx="18288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783080"/>
            <a:ext cx="18288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1783080"/>
            <a:ext cx="18288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783080"/>
            <a:ext cx="18288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783080"/>
            <a:ext cx="1097280" cy="640080"/>
          </a:xfrm>
          <a:prstGeom prst="rect">
            <a:avLst/>
          </a:prstGeom>
          <a:solidFill>
            <a:srgbClr val="8E9AAF"/>
          </a:solidFill>
          <a:ln w="12700">
            <a:solidFill>
              <a:srgbClr val="8E9A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1783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7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Refinement Timeline (并行)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17320" y="3429000"/>
            <a:ext cx="1828800" cy="64008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S2 (+S3)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3429000"/>
            <a:ext cx="1828800" cy="64008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S3 (+S4)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66360" y="3429000"/>
            <a:ext cx="1828800" cy="64008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S4 (+S5)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40880" y="3429000"/>
            <a:ext cx="1828800" cy="64008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S5 (+S6)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15400" y="3429000"/>
            <a:ext cx="1097280" cy="640080"/>
          </a:xfrm>
          <a:prstGeom prst="rect">
            <a:avLst/>
          </a:prstGeom>
          <a:solidFill>
            <a:srgbClr val="8E9AAF"/>
          </a:solidFill>
          <a:ln w="12700">
            <a:solidFill>
              <a:srgbClr val="8E9A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3429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31720" y="3429000"/>
            <a:ext cx="0" cy="-1188720"/>
          </a:xfrm>
          <a:prstGeom prst="line">
            <a:avLst/>
          </a:prstGeom>
          <a:noFill/>
          <a:ln w="19050">
            <a:solidFill>
              <a:srgbClr val="9B7EDE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06240" y="3429000"/>
            <a:ext cx="0" cy="-1188720"/>
          </a:xfrm>
          <a:prstGeom prst="line">
            <a:avLst/>
          </a:prstGeom>
          <a:noFill/>
          <a:ln w="19050">
            <a:solidFill>
              <a:srgbClr val="9B7EDE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80760" y="3429000"/>
            <a:ext cx="0" cy="-1188720"/>
          </a:xfrm>
          <a:prstGeom prst="line">
            <a:avLst/>
          </a:prstGeom>
          <a:noFill/>
          <a:ln w="19050">
            <a:solidFill>
              <a:srgbClr val="9B7EDE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55280" y="3429000"/>
            <a:ext cx="0" cy="-1188720"/>
          </a:xfrm>
          <a:prstGeom prst="line">
            <a:avLst/>
          </a:prstGeom>
          <a:noFill/>
          <a:ln w="19050">
            <a:solidFill>
              <a:srgbClr val="9B7EDE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7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refiner 写入下一个 stage 的 refined 版本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11247120" cy="1691640"/>
          </a:xfrm>
          <a:prstGeom prst="rect">
            <a:avLst/>
          </a:prstGeom>
          <a:solidFill>
            <a:srgbClr val="E5E8F0"/>
          </a:solidFill>
          <a:ln w="25400">
            <a:solidFill>
              <a:srgbClr val="9B7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Lookahead 窗口 (D7：硬上限 ≤ 2)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5212080"/>
            <a:ext cx="35661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4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2852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4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mpc_mode A → lookahead 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" y="5669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简单 stage，Stage A 单步可控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89120" y="5212080"/>
            <a:ext cx="35661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7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52852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mpc_mode B → lookahead 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26280" y="5669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接触动力学需要单 stage 前瞻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138160" y="5212080"/>
            <a:ext cx="35661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5320" y="52852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mpc_mode C → lookahead 2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75320" y="5669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多体耦合需要更长前瞻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enhancement, not prerequisite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Refiner · 核心代码 与 Fallback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858000" cy="4023360"/>
          </a:xfrm>
          <a:prstGeom prst="rect">
            <a:avLst/>
          </a:prstGeom>
          <a:solidFill>
            <a:srgbClr val="1A1F3A"/>
          </a:solidFill>
          <a:ln w="12700">
            <a:solidFill>
              <a:srgbClr val="1218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StreamingRefiner: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plan, blackboard, lookahead=2):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self.plan =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self.bb = blackboard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self.lookahead = lookahead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self.refined_until =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run_background(self):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not self.bb.execution_done: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current = self.bb.current_stage_idx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target = current + self.lookahead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 self.refined_until &lt; min(target, N-1):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self._refine_one_stage(self.refined_until + 1)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self.refined_until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time.sleep(0.05)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_refine_one_stage(self, idx):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self.bb.snapshot()      # blackboard prior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stg = self.plan.steps[idx]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pw  = pointworld.rollout(start, stg)            # ~1-2s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vla = vla.evaluate(start, stg) if lookahead&gt;=2 else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crit = critique_synthesizer.synthesize(pw, vla)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crit.has_significant_issues():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self.plan.steps[idx] = vlm.revise(stg, crit) # ~0.5s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self.bb.mark_refined(idx)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7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 stage 精化总成本 ~2–3 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760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平均执行 2–10 s → 通常能跟上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跟不上时的 Fallback 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1828800"/>
            <a:ext cx="4389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4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828800"/>
            <a:ext cx="73152" cy="118872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已精化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最优路径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35240" y="2286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 refined stage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0" y="3108960"/>
            <a:ext cx="4389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3108960"/>
            <a:ext cx="73152" cy="118872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未精化但 quick check 通过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degraded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35240" y="3566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返回原 VLM 版本 + Stage A 兜底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 supervisor degraded mode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4389120"/>
            <a:ext cx="4389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4389120"/>
            <a:ext cx="73152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兜底也失败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3272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兜底失败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4846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或 request supervisor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0" y="5760720"/>
            <a:ext cx="4389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5760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精化是 best-effort, 不是 prerequisite (D8)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· Frequency-Authority inversion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四频段分层 · 频率 vs 权限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频率高 → 权限大但视野窄；频率低 → 视野宽但权限克制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0684764" cy="86868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10319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· VLA 反应层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0319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改单步 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24844" y="2377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10–30 Hz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997696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· MPC 战术层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改单步动作 / 拒绝动作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37776" y="33832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10–30 Hz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5061204" cy="86868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80560"/>
            <a:ext cx="4695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L2.5 · Semantic Resolver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4695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deferred refs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01284" y="4389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0.5–2 Hz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394960"/>
            <a:ext cx="1687068" cy="86868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486400"/>
            <a:ext cx="132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· VLM-Supervisor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32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/ replan / abort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27148" y="53949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7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event-driven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7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 / PointWorld 是异步后台 worker，不占任何频段——它们是 helper，不是 layer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Constraint Specialization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渐进约束特化 · 新设计模式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"初始 stage 宽约束（去抓某个碗就行）→ 以已完成的碗为基石 → 逐渐收紧约束（下一个碗要和这个碗交互）"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从「晶体」到「溶液」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486400" cy="3383280"/>
          </a:xfrm>
          <a:prstGeom prst="rect">
            <a:avLst/>
          </a:prstGeom>
          <a:solidFill>
            <a:srgbClr val="E5E8F0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548640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88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传统 plan（v2 当前）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输出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pick(bowl_3)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Plan-time 必须解决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哪个碗叫 bowl_3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错的后果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replan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种 stack 顺序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N 种 bowl 分配 → 组合爆炸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788920"/>
            <a:ext cx="5486400" cy="3383280"/>
          </a:xfrm>
          <a:prstGeom prst="rect">
            <a:avLst/>
          </a:prstGeom>
          <a:solidFill>
            <a:srgbClr val="E5E8F0"/>
          </a:solidFill>
          <a:ln w="25400">
            <a:solidFill>
              <a:srgbClr val="5BC4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788920"/>
            <a:ext cx="5486400" cy="41148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788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渐进约束 plan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输出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pick(any bowl ∈ scene)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Plan-time 故意不解决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留给 runtime / blackboard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错的后果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4846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不存在 (VLM 不输出 identity)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5212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只有 1 种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5486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自然 collapse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渐进约束 · stack-3-bowls 实例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94360" cy="594360"/>
          </a:xfrm>
          <a:prstGeom prst="ellipse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4380" y="2240280"/>
            <a:ext cx="0" cy="457200"/>
          </a:xfrm>
          <a:prstGeom prst="line">
            <a:avLst/>
          </a:prstGeom>
          <a:noFill/>
          <a:ln w="25400">
            <a:solidFill>
              <a:srgbClr val="9B7E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463040"/>
            <a:ext cx="10424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087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(any reachable bowl)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84708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reachable + stackable(class=bowl)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21945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stage  </a:t>
            </a:r>
            <a:pPr indent="0" marL="0">
              <a:buNone/>
            </a:pPr>
            <a:r>
              <a:rPr lang="en-US" sz="11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?picked_1 ← bowl_id_5  (commit to blackboard)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94360" cy="594360"/>
          </a:xfrm>
          <a:prstGeom prst="ellipse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54380" y="3474720"/>
            <a:ext cx="0" cy="457200"/>
          </a:xfrm>
          <a:prstGeom prst="line">
            <a:avLst/>
          </a:prstGeom>
          <a:noFill/>
          <a:ln w="25400">
            <a:solidFill>
              <a:srgbClr val="9B7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2697480"/>
            <a:ext cx="10424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7432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(?picked_1 on any other bowl)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08152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on_top_of(?picked_1, ?second_bowl) + stable + ?second_bowl ≠ ?picked_1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34290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stage  </a:t>
            </a:r>
            <a:pPr indent="0" marL="0">
              <a:buNone/>
            </a:pPr>
            <a:r>
              <a:rPr lang="en-US" sz="11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?second_bowl ← bowl_id_2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594360" cy="594360"/>
          </a:xfrm>
          <a:prstGeom prst="ellipse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54380" y="4709160"/>
            <a:ext cx="0" cy="457200"/>
          </a:xfrm>
          <a:prstGeom prst="line">
            <a:avLst/>
          </a:prstGeom>
          <a:noFill/>
          <a:ln w="25400">
            <a:solidFill>
              <a:srgbClr val="9B7E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3931920"/>
            <a:ext cx="10424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9776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(any remaining bowl)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3159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reachable + not_in_stack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46634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stage  </a:t>
            </a:r>
            <a:pPr indent="0" marL="0">
              <a:buNone/>
            </a:pPr>
            <a:r>
              <a:rPr lang="en-US" sz="11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?picked_3 ← bowl_id_8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5303520"/>
            <a:ext cx="594360" cy="594360"/>
          </a:xfrm>
          <a:prstGeom prst="ellipse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303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280160" y="5166360"/>
            <a:ext cx="10424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52120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(?picked_3 on top of stack)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555040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on_top_of(?picked_3, ?picked_1) + stable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17320" y="58978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stage  </a:t>
            </a:r>
            <a:pPr indent="0" marL="0">
              <a:buNone/>
            </a:pPr>
            <a:r>
              <a:rPr lang="en-US" sz="11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satisfied: count_stacked(bowl) ≥ 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extension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Mode 与 Existential Predicates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binding_mode 字段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eager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Plan-time 绑 identity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含 identity 关键约束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("红碗叠在蓝碗上")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54864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C4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931920"/>
            <a:ext cx="5486400" cy="50292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31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lazy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由 blackboard 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identity 无关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("叠三个碗")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Existential Predicates (新增)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身份无关的 goal 需要 existential 量化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057400"/>
            <a:ext cx="5486400" cy="4023360"/>
          </a:xfrm>
          <a:prstGeom prst="rect">
            <a:avLst/>
          </a:prstGeom>
          <a:solidFill>
            <a:srgbClr val="1A1F3A"/>
          </a:solidFill>
          <a:ln w="12700">
            <a:solidFill>
              <a:srgbClr val="1218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旧 (identity-based)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{"pred": "stacked",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"args": ["bowl_1","bowl_2","bowl_3"]}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新 (existential)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{"pred": "count_in_state",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"args": ["class=bowl",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"state=stacked",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"&gt;=", 3]}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{"pred": "exists_with_property",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"args": ["class=bowl",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"props=[stable,top_of_stack]"]}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{"pred": "all_of_class_in_state",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"args": ["class=bowl",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"state=in_stack"]}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Dictionary 的真扩展（不是 cosmetic 改动）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Three-touch extension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渐进约束如何接入现有 v2 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7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不需要架构改动，只需要三处协同扩展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914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928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VLM-Planner schema 扩展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stage.target_selector: instance:bowl_3 | any:bowl | any_except:?picked_1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stage.commit_on_complete: 写入哪个 blackboard 变量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stage.binding_mode: eager | lazy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1247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0D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91440" cy="1051560"/>
          </a:xfrm>
          <a:prstGeom prst="rect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358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L2.5 Semantic Resolver 扩展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在 stage 即将执行前才 resolve 该 stage 的 deferred refs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利用最新 blackboard binding（含上一 stage 实际结果）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11247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9B7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69080"/>
            <a:ext cx="91440" cy="105156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788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Streaming Refiner 扩展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优先 refine binding_mode=lazy 的 stage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这反而让 lookahead=1 的纪律更自然——lazy stages 本来就不能 lookahead=2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112471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4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212080"/>
            <a:ext cx="91440" cy="105156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3218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C4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Predicate Dictionary 扩展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新增 existential predicates: count_in_state, exists_with_property, all_of_class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这些 predicate 是 identity-agnostic 的，与渐进约束设计天然配合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Tensions to resolve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渐进约束设计的破绽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E5E8F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447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破绽 1 · 局部最优 vs 全局最优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在 stage 1 选「任何能抓的碗」——但某些碗会让后续 stage 变难（如这个碗太大无法 stack）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C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·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约束加 stackable(self) (从 class 推断)；streaming refiner 在 refine stage 1 时就预先用 PointWorld 评估后续可行性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1247120" cy="1188720"/>
          </a:xfrm>
          <a:prstGeom prst="rect">
            <a:avLst/>
          </a:prstGeom>
          <a:solidFill>
            <a:srgbClr val="E5E8F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249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破绽 2 · 约束「软化」的边界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宽到什么程度？pick(any bowl) 还是 pick(any object)？过宽 VLM 失去 task intent 表达力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C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·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类型约束保持锐利，identity 约束保持宽松。pick(class=bowl, instance=any) ✓；pick(class=any) 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1247120" cy="1188720"/>
          </a:xfrm>
          <a:prstGeom prst="rect">
            <a:avLst/>
          </a:prstGeom>
          <a:solidFill>
            <a:srgbClr val="E5E8F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破绽 3 · goal predicate 必须 identity-agnostic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stack(bowl_1, bowl_2, bowl_3) 需重写为 existential：count_stacked(bowl) ≥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C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·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Dictionary 加 existential quantifier 类（见 slide 19）— 是真新增，不是 cosmetic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E5E8F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2852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破绽 4 · identity-sensitive 任务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596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「把红碗叠在蓝碗上」必须 pick(color=red)，渐进约束在 identity 关键任务上自然退化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C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·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binding_mode: lazy / eager 作为 task-conditioned 选项。VLM 在 plan time 根据 task 语义自动决定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实施路径 · ~3.5 个月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03320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0292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PointWorld 集成 + Stage B/C MPC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4–6 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2039112"/>
            <a:ext cx="274320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60320"/>
            <a:ext cx="502920" cy="457200"/>
          </a:xfrm>
          <a:prstGeom prst="ellipse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Synthesizer v1（单 stage）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679192"/>
            <a:ext cx="914400" cy="228600"/>
          </a:xfrm>
          <a:prstGeom prst="rect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502920" cy="457200"/>
          </a:xfrm>
          <a:prstGeom prst="ellipse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StreamingRefiner worker + Quick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7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3319272"/>
            <a:ext cx="914400" cy="22860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40480"/>
            <a:ext cx="502920" cy="457200"/>
          </a:xfrm>
          <a:prstGeom prst="ellipse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revise prompt + LoRA tune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0" y="3959352"/>
            <a:ext cx="914400" cy="22860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80560"/>
            <a:ext cx="502920" cy="457200"/>
          </a:xfrm>
          <a:prstGeom prst="ellipse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80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+ supervisor force_refine_now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01200" y="4599432"/>
            <a:ext cx="457200" cy="22860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120640"/>
            <a:ext cx="50292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120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 benchmark (4 档 ablation)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058400" y="5239512"/>
            <a:ext cx="1371600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→ P3 (refiner 必须先在 mock VLM 上跑通，验证 lookahead 维持率)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measure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论文 Claim 与 Ablation 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21608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721608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417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Predicate Dictionary 作为 narrow waist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训练 / MPC 实现 / Supervisor 判断三者共用同一份字典，预测 sim 上 task SR 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371600"/>
            <a:ext cx="3721608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7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1371600"/>
            <a:ext cx="3721608" cy="777240"/>
          </a:xfrm>
          <a:prstGeom prst="rect">
            <a:avLst/>
          </a:prstGeom>
          <a:solidFill>
            <a:srgbClr val="9B7EDE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417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50408" y="1417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Refinement vs batch pre-execution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4568" y="22860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latency ≤ 2 s (vs ~30 s)，refinement-keeps-up rate &gt; X% on tasks with avg stage &gt; 3 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66176" y="1371600"/>
            <a:ext cx="3721608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1371600"/>
            <a:ext cx="3721608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1417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54896" y="1417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MPC A/B/C 的 lazy evaluation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49056" y="22860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always-on + B/C on-demand：mean per-step latency &lt; 20 ms while contact-rich SR retained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1247120" cy="2377440"/>
          </a:xfrm>
          <a:prstGeom prst="rect">
            <a:avLst/>
          </a:prstGeom>
          <a:solidFill>
            <a:srgbClr val="E5E8F0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4 档（P2 重点）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2606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4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17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C4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refinement (proposed)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852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C4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lookahead=2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4526280"/>
            <a:ext cx="2606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4617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6160" y="5074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batch refinement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5852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~30s startup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526280"/>
            <a:ext cx="2606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617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55080" y="5074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refinement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5852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A only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4526280"/>
            <a:ext cx="2606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7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4617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44000" y="5074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supervisor only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0" y="5852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7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event-driven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RoboBrain v2 — VLM·VLA·MPC Framework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 与 下一步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· Where to go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566160" cy="4389120"/>
          </a:xfrm>
          <a:prstGeom prst="rect">
            <a:avLst/>
          </a:prstGeom>
          <a:solidFill>
            <a:srgbClr val="1E2761"/>
          </a:solidFill>
          <a:ln w="19050">
            <a:solidFill>
              <a:srgbClr val="60D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3566160" cy="457200"/>
          </a:xfrm>
          <a:prstGeom prst="rect">
            <a:avLst/>
          </a:prstGeom>
          <a:solidFill>
            <a:srgbClr val="60D2FF"/>
          </a:solidFill>
          <a:ln w="12700">
            <a:solidFill>
              <a:srgbClr val="60D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五层架构 (+ supervisor 旁路)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Dictionary 窄腰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MPC A/B/C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Refinement (D6–D8 纪律)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渐进约束特化 (新设计模式)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07992" y="1783080"/>
            <a:ext cx="3566160" cy="4389120"/>
          </a:xfrm>
          <a:prstGeom prst="rect">
            <a:avLst/>
          </a:prstGeom>
          <a:solidFill>
            <a:srgbClr val="1E2761"/>
          </a:solidFill>
          <a:ln w="19050">
            <a:solidFill>
              <a:srgbClr val="FFB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783080"/>
            <a:ext cx="3566160" cy="45720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open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0872" y="24231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 短 stage 处理策略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 Refiner OOM 时优先级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 force_refine_now preempt vs queue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 binding_mode 自动判定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 predicate 选型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84464" y="1783080"/>
            <a:ext cx="3566160" cy="4389120"/>
          </a:xfrm>
          <a:prstGeom prst="rect">
            <a:avLst/>
          </a:prstGeom>
          <a:solidFill>
            <a:srgbClr val="1E2761"/>
          </a:solidFill>
          <a:ln w="19050">
            <a:solidFill>
              <a:srgbClr val="5BC4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783080"/>
            <a:ext cx="3566160" cy="457200"/>
          </a:xfrm>
          <a:prstGeom prst="rect">
            <a:avLst/>
          </a:prstGeom>
          <a:solidFill>
            <a:srgbClr val="5BC487"/>
          </a:solidFill>
          <a:ln w="12700">
            <a:solidFill>
              <a:srgbClr val="5BC4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decision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67344" y="24231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 binding_mode 由 task-level 配置 or VLM 推理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三个 task plan (stack / pot / red-blue) 看 binding_mode 边界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 existential predicate 完整集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决定是否把渐进约束写入 v2 §11.7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文档 vlm_vla_mpc_robot_framework_outline_v2.md · 图 framework_v2_main_figure.svg · 仓库 WANGGUIQIN/robobrain-3dgs-v2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VLM-VLA-MPC Robot Manipulation Framework v2</dc:title>
  <dc:subject>PptxGenJS Presentation</dc:subject>
  <dc:creator>RoboBrain Framework v2</dc:creator>
  <cp:lastModifiedBy>RoboBrain Framework v2</cp:lastModifiedBy>
  <cp:revision>1</cp:revision>
  <dcterms:created xsi:type="dcterms:W3CDTF">2026-05-25T01:42:46Z</dcterms:created>
  <dcterms:modified xsi:type="dcterms:W3CDTF">2026-05-25T01:42:46Z</dcterms:modified>
</cp:coreProperties>
</file>